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4" r:id="rId16"/>
    <p:sldId id="269" r:id="rId17"/>
    <p:sldId id="277" r:id="rId18"/>
    <p:sldId id="275" r:id="rId19"/>
    <p:sldId id="278" r:id="rId20"/>
    <p:sldId id="279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754" y="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dabAli/Customer-Sigmentation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5833328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CUSTOMER SEGMENTATION</a:t>
            </a:r>
            <a:endParaRPr lang="en-IN" dirty="0"/>
          </a:p>
          <a:p>
            <a:pPr>
              <a:defRPr sz="38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69CDF5"/>
                </a:solidFill>
              </a:defRPr>
            </a:pPr>
            <a:r>
              <a:rPr dirty="0"/>
              <a:t>Business Intelligence Analysis &amp;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286809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IN" dirty="0"/>
              <a:t>Submitted By:- Mir </a:t>
            </a:r>
            <a:r>
              <a:rPr lang="en-IN" dirty="0" err="1"/>
              <a:t>Sadab</a:t>
            </a:r>
            <a:r>
              <a:rPr lang="en-IN" dirty="0"/>
              <a:t> Ali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Project Code: CDACL-002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42"/>
                </a:solidFill>
              </a:defRPr>
            </a:pPr>
            <a:r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1369040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63041"/>
                </a:solidFill>
              </a:defRPr>
            </a:pPr>
            <a:r>
              <a:rPr dirty="0"/>
              <a:t>•  Power BI is used for exploratory data analysis (EDA)</a:t>
            </a:r>
            <a:r>
              <a:rPr lang="en-IN" dirty="0"/>
              <a:t> </a:t>
            </a:r>
            <a:r>
              <a:rPr dirty="0"/>
              <a:t>to understand customer purchasing patterns</a:t>
            </a:r>
            <a:r>
              <a:rPr lang="en-IN" dirty="0"/>
              <a:t> Analysis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>
                <a:solidFill>
                  <a:srgbClr val="263041"/>
                </a:solidFill>
              </a:defRPr>
            </a:pPr>
            <a:r>
              <a:rPr dirty="0"/>
              <a:t>•  Machine Learning is used to identify customer groups through clustering.</a:t>
            </a:r>
          </a:p>
          <a:p>
            <a:pPr>
              <a:spcAft>
                <a:spcPts val="1300"/>
              </a:spcAft>
              <a:defRPr sz="2000">
                <a:solidFill>
                  <a:srgbClr val="263041"/>
                </a:solidFill>
              </a:defRPr>
            </a:pPr>
            <a:r>
              <a:rPr dirty="0"/>
              <a:t>•  Random Forest learns to predict the cluster labels generated by K-Prototypes.</a:t>
            </a:r>
          </a:p>
          <a:p>
            <a:pPr>
              <a:spcAft>
                <a:spcPts val="1300"/>
              </a:spcAft>
              <a:defRPr sz="2000">
                <a:solidFill>
                  <a:srgbClr val="263041"/>
                </a:solidFill>
              </a:defRPr>
            </a:pPr>
            <a:r>
              <a:rPr dirty="0"/>
              <a:t>•  The web application presents the predicted cluster and can provide an AI-generated explanation.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42"/>
                </a:solidFill>
              </a:defRPr>
            </a:pPr>
            <a:r>
              <a:t>Workflow: BI vs Machine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212080" cy="4343400"/>
          </a:xfrm>
          <a:prstGeom prst="roundRect">
            <a:avLst/>
          </a:prstGeom>
          <a:solidFill>
            <a:srgbClr val="F1F6FD"/>
          </a:solidFill>
          <a:ln>
            <a:solidFill>
              <a:srgbClr val="207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073DC"/>
                </a:solidFill>
              </a:defRPr>
            </a:pPr>
            <a:r>
              <a:t>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10367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263041"/>
                </a:solidFill>
              </a:defRPr>
            </a:pPr>
            <a:r>
              <a:rPr dirty="0"/>
              <a:t>Exploratory Data Analysis (EDA)</a:t>
            </a:r>
            <a:r>
              <a:rPr lang="en-IN" dirty="0"/>
              <a:t> And KPI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3041"/>
                </a:solidFill>
              </a:defRPr>
            </a:pPr>
            <a:r>
              <a:t>• Purchase value by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79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3041"/>
                </a:solidFill>
              </a:defRPr>
            </a:pPr>
            <a:r>
              <a:t>• Average purchase amount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77639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3041"/>
                </a:solidFill>
              </a:defRPr>
            </a:pPr>
            <a:r>
              <a:t>• Discount comparisons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3041"/>
                </a:solidFill>
              </a:defRPr>
            </a:pPr>
            <a:r>
              <a:t>• Season labels, subscriptions and 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212080" cy="4343400"/>
          </a:xfrm>
          <a:prstGeom prst="roundRect">
            <a:avLst/>
          </a:prstGeom>
          <a:solidFill>
            <a:srgbClr val="F1F6FD"/>
          </a:solidFill>
          <a:ln>
            <a:solidFill>
              <a:srgbClr val="674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74DBE"/>
                </a:solidFill>
              </a:defRPr>
            </a:pPr>
            <a: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263041"/>
                </a:solidFill>
              </a:defRPr>
            </a:pPr>
            <a:r>
              <a:t>Customer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78892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3041"/>
                </a:solidFill>
              </a:defRPr>
            </a:pPr>
            <a:r>
              <a:t>• K-Prototypes finds groups of similar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3383279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3041"/>
                </a:solidFill>
              </a:defRPr>
            </a:pPr>
            <a:r>
              <a:t>• Profile the three generated clusters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3977639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3041"/>
                </a:solidFill>
              </a:defRPr>
            </a:pPr>
            <a:r>
              <a:t>• Random Forest predicts cluster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457200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3041"/>
                </a:solidFill>
              </a:defRPr>
            </a:pPr>
            <a:r>
              <a:t>• FastAPI displays prediction; Gemini explains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A4B"/>
                </a:solidFill>
                <a:latin typeface="Aptos Display"/>
              </a:defRPr>
            </a:pPr>
            <a:r>
              <a:t>Project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1965960" cy="960120"/>
          </a:xfrm>
          <a:prstGeom prst="roundRect">
            <a:avLst/>
          </a:prstGeom>
          <a:solidFill>
            <a:srgbClr val="162A4B"/>
          </a:solidFill>
          <a:ln>
            <a:solidFill>
              <a:srgbClr val="162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Customer Dataset</a:t>
            </a:r>
          </a:p>
          <a:p>
            <a:pPr algn="ctr">
              <a:defRPr sz="1100">
                <a:solidFill>
                  <a:srgbClr val="FFFFFF"/>
                </a:solidFill>
                <a:latin typeface="Aptos"/>
              </a:defRPr>
            </a:pPr>
            <a:r>
              <a:t>CSV · 3,900 records</a:t>
            </a:r>
            <a:br/>
            <a:r>
              <a:t>18 columns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261872"/>
            <a:ext cx="2286000" cy="1170432"/>
          </a:xfrm>
          <a:prstGeom prst="roundRect">
            <a:avLst/>
          </a:prstGeom>
          <a:solidFill>
            <a:srgbClr val="2A68B0"/>
          </a:solidFill>
          <a:ln>
            <a:solidFill>
              <a:srgbClr val="2A6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 dirty="0"/>
              <a:t>Power BI  EDA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rPr dirty="0"/>
              <a:t>Data exploration</a:t>
            </a:r>
            <a:br>
              <a:rPr dirty="0"/>
            </a:br>
            <a:r>
              <a:rPr dirty="0"/>
              <a:t>KPIs · category · season</a:t>
            </a:r>
            <a:br>
              <a:rPr dirty="0"/>
            </a:br>
            <a:r>
              <a:rPr dirty="0"/>
              <a:t>location · discount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880360"/>
            <a:ext cx="2286000" cy="1261872"/>
          </a:xfrm>
          <a:prstGeom prst="roundRect">
            <a:avLst/>
          </a:prstGeom>
          <a:solidFill>
            <a:srgbClr val="1E8B8B"/>
          </a:solidFill>
          <a:ln>
            <a:solidFill>
              <a:srgbClr val="1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 dirty="0"/>
              <a:t>Preprocessing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rPr dirty="0"/>
              <a:t>Select mixed features</a:t>
            </a:r>
            <a:br>
              <a:rPr dirty="0"/>
            </a:br>
            <a:r>
              <a:rPr dirty="0"/>
              <a:t>Scale numeric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880360"/>
            <a:ext cx="2240280" cy="1261872"/>
          </a:xfrm>
          <a:prstGeom prst="roundRect">
            <a:avLst/>
          </a:prstGeom>
          <a:solidFill>
            <a:srgbClr val="6F4EA0"/>
          </a:solidFill>
          <a:ln>
            <a:solidFill>
              <a:srgbClr val="6F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K-Prototypes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Unsupervised clustering</a:t>
            </a:r>
            <a:br/>
            <a:r>
              <a:t>K = 3</a:t>
            </a:r>
            <a:br/>
            <a:r>
              <a:t>Creates cluster labels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880360"/>
            <a:ext cx="2331720" cy="1261872"/>
          </a:xfrm>
          <a:prstGeom prst="roundRect">
            <a:avLst/>
          </a:prstGeom>
          <a:solidFill>
            <a:srgbClr val="DA852D"/>
          </a:solidFill>
          <a:ln>
            <a:solidFill>
              <a:srgbClr val="DA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Random Forest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Supervised classifier</a:t>
            </a:r>
            <a:br/>
            <a:r>
              <a:t>Learns generated labels</a:t>
            </a:r>
            <a:br/>
            <a:r>
              <a:t>Predicts cluster group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4800600"/>
            <a:ext cx="2240280" cy="1051560"/>
          </a:xfrm>
          <a:prstGeom prst="roundRect">
            <a:avLst/>
          </a:prstGeom>
          <a:solidFill>
            <a:srgbClr val="162A4B"/>
          </a:solidFill>
          <a:ln>
            <a:solidFill>
              <a:srgbClr val="162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 dirty="0"/>
              <a:t>Saved Model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rPr dirty="0"/>
              <a:t>Preprocessing + RF model</a:t>
            </a:r>
            <a:br>
              <a:rPr dirty="0"/>
            </a:br>
            <a:r>
              <a:rPr dirty="0"/>
              <a:t>Used for inference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6500" y="4773168"/>
            <a:ext cx="2240280" cy="1051560"/>
          </a:xfrm>
          <a:prstGeom prst="roundRect">
            <a:avLst/>
          </a:prstGeom>
          <a:solidFill>
            <a:srgbClr val="2A68B0"/>
          </a:solidFill>
          <a:ln>
            <a:solidFill>
              <a:srgbClr val="2A6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FastAPI Backend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Receives customer inputs</a:t>
            </a:r>
            <a:br/>
            <a:r>
              <a:t>Runs model prediction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800600"/>
            <a:ext cx="2286000" cy="1051560"/>
          </a:xfrm>
          <a:prstGeom prst="roundRect">
            <a:avLst/>
          </a:prstGeom>
          <a:solidFill>
            <a:srgbClr val="1E8B8B"/>
          </a:solidFill>
          <a:ln>
            <a:solidFill>
              <a:srgbClr val="1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User Interface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Customer feature form</a:t>
            </a:r>
            <a:br/>
            <a:r>
              <a:t>Shows predicted segment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6172200"/>
            <a:ext cx="2286000" cy="502920"/>
          </a:xfrm>
          <a:prstGeom prst="roundRect">
            <a:avLst/>
          </a:prstGeom>
          <a:solidFill>
            <a:srgbClr val="6F4EA0"/>
          </a:solidFill>
          <a:ln>
            <a:solidFill>
              <a:srgbClr val="6F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Gemini Explanation</a:t>
            </a:r>
          </a:p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Plain-language explanation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60320" y="1874519"/>
            <a:ext cx="685800" cy="0"/>
          </a:xfrm>
          <a:prstGeom prst="line">
            <a:avLst/>
          </a:prstGeom>
          <a:ln w="25400">
            <a:solidFill>
              <a:srgbClr val="2A6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560320" y="2057400"/>
            <a:ext cx="685800" cy="1371600"/>
          </a:xfrm>
          <a:prstGeom prst="line">
            <a:avLst/>
          </a:prstGeom>
          <a:ln w="25400">
            <a:solidFill>
              <a:srgbClr val="1E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32120" y="3511296"/>
            <a:ext cx="731520" cy="0"/>
          </a:xfrm>
          <a:prstGeom prst="line">
            <a:avLst/>
          </a:prstGeom>
          <a:ln w="25400">
            <a:solidFill>
              <a:srgbClr val="6F4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03920" y="3511296"/>
            <a:ext cx="640080" cy="0"/>
          </a:xfrm>
          <a:prstGeom prst="line">
            <a:avLst/>
          </a:prstGeom>
          <a:ln w="25400">
            <a:solidFill>
              <a:srgbClr val="DA85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287000" y="4142232"/>
            <a:ext cx="0" cy="658368"/>
          </a:xfrm>
          <a:prstGeom prst="line">
            <a:avLst/>
          </a:prstGeom>
          <a:ln w="25400">
            <a:solidFill>
              <a:srgbClr val="DA85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503920" y="5321808"/>
            <a:ext cx="640080" cy="0"/>
          </a:xfrm>
          <a:prstGeom prst="line">
            <a:avLst/>
          </a:prstGeom>
          <a:ln w="25400">
            <a:solidFill>
              <a:srgbClr val="2A6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532120" y="5321808"/>
            <a:ext cx="731520" cy="0"/>
          </a:xfrm>
          <a:prstGeom prst="line">
            <a:avLst/>
          </a:prstGeom>
          <a:ln w="25400">
            <a:solidFill>
              <a:srgbClr val="1E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389120" y="5852160"/>
            <a:ext cx="0" cy="320040"/>
          </a:xfrm>
          <a:prstGeom prst="line">
            <a:avLst/>
          </a:prstGeom>
          <a:ln w="25400">
            <a:solidFill>
              <a:srgbClr val="6F4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62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42"/>
                </a:solidFill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82"/>
                </a:solidFill>
              </a:defRPr>
            </a:pPr>
            <a:r>
              <a:t>3,900 customer records • 18 columns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560320" cy="1325880"/>
          </a:xfrm>
          <a:prstGeom prst="roundRect">
            <a:avLst/>
          </a:prstGeom>
          <a:solidFill>
            <a:srgbClr val="F1F6FD"/>
          </a:solidFill>
          <a:ln>
            <a:solidFill>
              <a:srgbClr val="DC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073DC"/>
                </a:solidFill>
              </a:defRPr>
            </a:pPr>
            <a:r>
              <a:t>3,900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63041"/>
                </a:solidFill>
              </a:defRPr>
            </a:pPr>
            <a:r>
              <a:t>customer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508760"/>
            <a:ext cx="2560320" cy="1325880"/>
          </a:xfrm>
          <a:prstGeom prst="roundRect">
            <a:avLst/>
          </a:prstGeom>
          <a:solidFill>
            <a:srgbClr val="F1F6FD"/>
          </a:solidFill>
          <a:ln>
            <a:solidFill>
              <a:srgbClr val="DC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755648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073DC"/>
                </a:solidFill>
              </a:defRPr>
            </a:pPr>
            <a: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860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63041"/>
                </a:solidFill>
              </a:defRPr>
            </a:pPr>
            <a:r>
              <a:t>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508760"/>
            <a:ext cx="2560320" cy="1325880"/>
          </a:xfrm>
          <a:prstGeom prst="roundRect">
            <a:avLst/>
          </a:prstGeom>
          <a:solidFill>
            <a:srgbClr val="F1F6FD"/>
          </a:solidFill>
          <a:ln>
            <a:solidFill>
              <a:srgbClr val="DC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1755648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073DC"/>
                </a:solidFill>
              </a:defRPr>
            </a:pPr>
            <a:r>
              <a:t>$996.38K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2860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63041"/>
                </a:solidFill>
              </a:defRPr>
            </a:pPr>
            <a:r>
              <a:t>total purchase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508760"/>
            <a:ext cx="2560320" cy="1325880"/>
          </a:xfrm>
          <a:prstGeom prst="roundRect">
            <a:avLst/>
          </a:prstGeom>
          <a:solidFill>
            <a:srgbClr val="F1F6FD"/>
          </a:solidFill>
          <a:ln>
            <a:solidFill>
              <a:srgbClr val="DC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19" y="1755648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073DC"/>
                </a:solidFill>
              </a:defRPr>
            </a:pPr>
            <a:r>
              <a:t>$255.48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19" y="22860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63041"/>
                </a:solidFill>
              </a:defRPr>
            </a:pPr>
            <a:r>
              <a:t>average purchase amount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10698480" cy="1410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041"/>
                </a:solidFill>
              </a:defRPr>
            </a:pPr>
            <a:r>
              <a:rPr dirty="0"/>
              <a:t>•  Fields include demographics, product/category, purchase amount, location, season, subscription, discounts and purchase frequency.</a:t>
            </a:r>
          </a:p>
          <a:p>
            <a:pPr>
              <a:spcAft>
                <a:spcPts val="1300"/>
              </a:spcAft>
              <a:defRPr sz="1600">
                <a:solidFill>
                  <a:srgbClr val="263041"/>
                </a:solidFill>
              </a:defRPr>
            </a:pPr>
            <a:r>
              <a:rPr dirty="0"/>
              <a:t>•  Initial checks reported no missing values or duplicate rows</a:t>
            </a:r>
            <a:r>
              <a:rPr lang="en-IN" dirty="0"/>
              <a:t>, </a:t>
            </a:r>
            <a:r>
              <a:rPr dirty="0"/>
              <a:t> </a:t>
            </a:r>
            <a:r>
              <a:rPr dirty="0" err="1"/>
              <a:t>CustomerID</a:t>
            </a:r>
            <a:r>
              <a:rPr dirty="0"/>
              <a:t> was unique.</a:t>
            </a:r>
          </a:p>
          <a:p>
            <a:pPr>
              <a:spcAft>
                <a:spcPts val="1300"/>
              </a:spcAft>
              <a:defRPr sz="1600">
                <a:solidFill>
                  <a:srgbClr val="263041"/>
                </a:solidFill>
              </a:defRPr>
            </a:pPr>
            <a:r>
              <a:rPr dirty="0"/>
              <a:t>•  No company identifier, transaction dates, costs or future outcome labels are available.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42"/>
                </a:solidFill>
              </a:defRPr>
            </a:pPr>
            <a:r>
              <a:t>Power BI Dashboard Overview</a:t>
            </a:r>
          </a:p>
        </p:txBody>
      </p:sp>
      <p:pic>
        <p:nvPicPr>
          <p:cNvPr id="5" name="Picture 4" descr="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7275"/>
            <a:ext cx="11155680" cy="5389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42"/>
                </a:solidFill>
              </a:defRPr>
            </a:pPr>
            <a:r>
              <a:t>Power BI Finding: Purchase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82"/>
                </a:solidFill>
              </a:defRPr>
            </a:pPr>
            <a:r>
              <a:t>Descriptive analysis by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63041"/>
                </a:solidFill>
              </a:defRPr>
            </a:pPr>
            <a:r>
              <a:t>•  Clothing: approximately $209K total purchase value.</a:t>
            </a:r>
          </a:p>
          <a:p>
            <a:pPr>
              <a:spcAft>
                <a:spcPts val="1300"/>
              </a:spcAft>
              <a:defRPr sz="1800">
                <a:solidFill>
                  <a:srgbClr val="263041"/>
                </a:solidFill>
              </a:defRPr>
            </a:pPr>
            <a:r>
              <a:t>•  Accessories: approximately $208K; Home Decor: approximately $197K.</a:t>
            </a:r>
          </a:p>
          <a:p>
            <a:pPr>
              <a:spcAft>
                <a:spcPts val="1300"/>
              </a:spcAft>
              <a:defRPr sz="1800">
                <a:solidFill>
                  <a:srgbClr val="263041"/>
                </a:solidFill>
              </a:defRPr>
            </a:pPr>
            <a:r>
              <a:t>•  Electronics: approximately $194K; Sports: approximately $189K.</a:t>
            </a:r>
          </a:p>
          <a:p>
            <a:pPr>
              <a:spcAft>
                <a:spcPts val="1300"/>
              </a:spcAft>
              <a:defRPr sz="1800">
                <a:solidFill>
                  <a:srgbClr val="263041"/>
                </a:solidFill>
              </a:defRPr>
            </a:pPr>
            <a:r>
              <a:t>•  Total purchase value displayed: approximately $996.38K.</a:t>
            </a:r>
          </a:p>
        </p:txBody>
      </p:sp>
      <p:pic>
        <p:nvPicPr>
          <p:cNvPr id="6" name="Picture 5" descr="01.png"/>
          <p:cNvPicPr>
            <a:picLocks noChangeAspect="1"/>
          </p:cNvPicPr>
          <p:nvPr/>
        </p:nvPicPr>
        <p:blipFill>
          <a:blip r:embed="rId2"/>
          <a:srcRect l="1247" t="2222" r="1215" b="3222"/>
          <a:stretch>
            <a:fillRect/>
          </a:stretch>
        </p:blipFill>
        <p:spPr>
          <a:xfrm>
            <a:off x="3095625" y="3295650"/>
            <a:ext cx="5972176" cy="32423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42"/>
                </a:solidFill>
              </a:defRPr>
            </a:pPr>
            <a:r>
              <a:t>Power BI Finding: Average Purchase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82"/>
                </a:solidFill>
              </a:defRPr>
            </a:pPr>
            <a:r>
              <a:t>Average values are relatively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63041"/>
                </a:solidFill>
              </a:defRPr>
            </a:pPr>
            <a:r>
              <a:t>•  Clothing: $262.28 (highest displayed average).</a:t>
            </a:r>
          </a:p>
          <a:p>
            <a:pPr>
              <a:spcAft>
                <a:spcPts val="1300"/>
              </a:spcAft>
              <a:defRPr sz="1800">
                <a:solidFill>
                  <a:srgbClr val="263041"/>
                </a:solidFill>
              </a:defRPr>
            </a:pPr>
            <a:r>
              <a:t>•  Home Decor: $259.21; Accessories: $253.74.</a:t>
            </a:r>
          </a:p>
          <a:p>
            <a:pPr>
              <a:spcAft>
                <a:spcPts val="1300"/>
              </a:spcAft>
              <a:defRPr sz="1800">
                <a:solidFill>
                  <a:srgbClr val="263041"/>
                </a:solidFill>
              </a:defRPr>
            </a:pPr>
            <a:r>
              <a:t>•  Sports: $251.14; Electronics: $250.88.</a:t>
            </a:r>
          </a:p>
          <a:p>
            <a:pPr>
              <a:spcAft>
                <a:spcPts val="1300"/>
              </a:spcAft>
              <a:defRPr sz="1800">
                <a:solidFill>
                  <a:srgbClr val="263041"/>
                </a:solidFill>
              </a:defRPr>
            </a:pPr>
            <a:r>
              <a:t>•  Difference between highest and lowest averages: approximately $11.40.</a:t>
            </a:r>
          </a:p>
        </p:txBody>
      </p:sp>
      <p:pic>
        <p:nvPicPr>
          <p:cNvPr id="6" name="Picture 5" descr="02.png"/>
          <p:cNvPicPr>
            <a:picLocks noChangeAspect="1"/>
          </p:cNvPicPr>
          <p:nvPr/>
        </p:nvPicPr>
        <p:blipFill>
          <a:blip r:embed="rId2"/>
          <a:srcRect l="1398" t="2451" r="1701"/>
          <a:stretch>
            <a:fillRect/>
          </a:stretch>
        </p:blipFill>
        <p:spPr>
          <a:xfrm>
            <a:off x="3124200" y="3505200"/>
            <a:ext cx="6076950" cy="3032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42"/>
                </a:solidFill>
              </a:defRPr>
            </a:pPr>
            <a:r>
              <a:t>Power BI Finding: Discounts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82"/>
                </a:solidFill>
              </a:defRPr>
            </a:pPr>
            <a:r>
              <a:t>Descriptive comparison; not causal evidence</a:t>
            </a:r>
          </a:p>
        </p:txBody>
      </p:sp>
      <p:pic>
        <p:nvPicPr>
          <p:cNvPr id="5" name="Picture 4" descr="03.png"/>
          <p:cNvPicPr>
            <a:picLocks noChangeAspect="1"/>
          </p:cNvPicPr>
          <p:nvPr/>
        </p:nvPicPr>
        <p:blipFill>
          <a:blip r:embed="rId2"/>
          <a:srcRect l="1252" t="2277" r="1047" b="2034"/>
          <a:stretch>
            <a:fillRect/>
          </a:stretch>
        </p:blipFill>
        <p:spPr>
          <a:xfrm>
            <a:off x="2876550" y="2695575"/>
            <a:ext cx="6477000" cy="3762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55448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63041"/>
                </a:solidFill>
              </a:defRPr>
            </a:pPr>
            <a:r>
              <a:t>•  Discount patterns differ across categories.</a:t>
            </a:r>
          </a:p>
          <a:p>
            <a:pPr>
              <a:spcAft>
                <a:spcPts val="1300"/>
              </a:spcAft>
              <a:defRPr sz="1700">
                <a:solidFill>
                  <a:srgbClr val="263041"/>
                </a:solidFill>
              </a:defRPr>
            </a:pPr>
            <a:r>
              <a:t>•  The chart does not establish that discounts cause spending changes.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42"/>
                </a:solidFill>
              </a:defRPr>
            </a:pPr>
            <a:r>
              <a:t>Power BI Finding: Season &amp; Location</a:t>
            </a:r>
          </a:p>
        </p:txBody>
      </p:sp>
      <p:pic>
        <p:nvPicPr>
          <p:cNvPr id="5" name="Picture 4" descr="04.png"/>
          <p:cNvPicPr>
            <a:picLocks noChangeAspect="1"/>
          </p:cNvPicPr>
          <p:nvPr/>
        </p:nvPicPr>
        <p:blipFill>
          <a:blip r:embed="rId2"/>
          <a:srcRect l="833" t="2739" r="1559" b="2511"/>
          <a:stretch>
            <a:fillRect/>
          </a:stretch>
        </p:blipFill>
        <p:spPr>
          <a:xfrm>
            <a:off x="655166" y="2962275"/>
            <a:ext cx="5355110" cy="3162300"/>
          </a:xfrm>
          <a:prstGeom prst="rect">
            <a:avLst/>
          </a:prstGeom>
        </p:spPr>
      </p:pic>
      <p:pic>
        <p:nvPicPr>
          <p:cNvPr id="6" name="Picture 5" descr="07.png"/>
          <p:cNvPicPr>
            <a:picLocks noChangeAspect="1"/>
          </p:cNvPicPr>
          <p:nvPr/>
        </p:nvPicPr>
        <p:blipFill>
          <a:blip r:embed="rId3"/>
          <a:srcRect l="1573" t="2740" r="1326" b="2511"/>
          <a:stretch>
            <a:fillRect/>
          </a:stretch>
        </p:blipFill>
        <p:spPr>
          <a:xfrm>
            <a:off x="6509001" y="2962275"/>
            <a:ext cx="5282949" cy="3162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447" y="1453515"/>
            <a:ext cx="5486400" cy="1072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263041"/>
                </a:solidFill>
              </a:defRPr>
            </a:pPr>
            <a:r>
              <a:rPr dirty="0"/>
              <a:t>•  Spring has the highest displayed seasonal total; Summer the lowest.</a:t>
            </a:r>
          </a:p>
          <a:p>
            <a:pPr>
              <a:spcAft>
                <a:spcPts val="1300"/>
              </a:spcAft>
              <a:defRPr sz="1400">
                <a:solidFill>
                  <a:srgbClr val="263041"/>
                </a:solidFill>
              </a:defRPr>
            </a:pPr>
            <a:r>
              <a:rPr dirty="0"/>
              <a:t>•  Location counts range from 741 (Miami) to 812 (New York).</a:t>
            </a:r>
          </a:p>
          <a:p>
            <a:pPr>
              <a:spcAft>
                <a:spcPts val="1300"/>
              </a:spcAft>
              <a:defRPr sz="1400">
                <a:solidFill>
                  <a:srgbClr val="263041"/>
                </a:solidFill>
              </a:defRPr>
            </a:pPr>
            <a:r>
              <a:rPr dirty="0"/>
              <a:t>•  No transaction dates are available to claim year-over-year trends.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42"/>
                </a:solidFill>
              </a:defRPr>
            </a:pPr>
            <a:r>
              <a:t>Power BI Finding: Subscription &amp; Category</a:t>
            </a:r>
          </a:p>
        </p:txBody>
      </p:sp>
      <p:pic>
        <p:nvPicPr>
          <p:cNvPr id="5" name="Picture 4" descr="05.png"/>
          <p:cNvPicPr>
            <a:picLocks noChangeAspect="1"/>
          </p:cNvPicPr>
          <p:nvPr/>
        </p:nvPicPr>
        <p:blipFill>
          <a:blip r:embed="rId2"/>
          <a:srcRect l="1532" t="1801" r="1425" b="1851"/>
          <a:stretch>
            <a:fillRect/>
          </a:stretch>
        </p:blipFill>
        <p:spPr>
          <a:xfrm>
            <a:off x="676274" y="2360134"/>
            <a:ext cx="5191125" cy="3964466"/>
          </a:xfrm>
          <a:prstGeom prst="rect">
            <a:avLst/>
          </a:prstGeom>
        </p:spPr>
      </p:pic>
      <p:pic>
        <p:nvPicPr>
          <p:cNvPr id="6" name="Picture 5" descr="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285999"/>
            <a:ext cx="577977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6720" y="1445734"/>
            <a:ext cx="5273040" cy="689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263041"/>
                </a:solidFill>
              </a:defRPr>
            </a:pPr>
            <a:r>
              <a:rPr dirty="0"/>
              <a:t>•  Subscription status is almost balanced: 49.51% Yes and 50.49% No.</a:t>
            </a:r>
          </a:p>
          <a:p>
            <a:pPr>
              <a:spcAft>
                <a:spcPts val="1300"/>
              </a:spcAft>
              <a:defRPr sz="1400">
                <a:solidFill>
                  <a:srgbClr val="263041"/>
                </a:solidFill>
              </a:defRPr>
            </a:pPr>
            <a:r>
              <a:rPr dirty="0"/>
              <a:t>•  All five categories contribute meaningful purchase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42"/>
                </a:solidFill>
              </a:defRPr>
            </a:pPr>
            <a:r>
              <a:t>Machine Learning: K-Prototypes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234391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82"/>
                </a:solidFill>
              </a:defRPr>
            </a:pPr>
            <a:r>
              <a:rPr dirty="0"/>
              <a:t>Unsupervised learning </a:t>
            </a:r>
            <a:r>
              <a:rPr lang="en-IN" dirty="0"/>
              <a:t> </a:t>
            </a:r>
            <a:r>
              <a:rPr dirty="0"/>
              <a:t>finding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63041"/>
                </a:solidFill>
              </a:defRPr>
            </a:pPr>
            <a:r>
              <a:t>•  Selected because customer data contains both numeric and categorical features.</a:t>
            </a:r>
          </a:p>
          <a:p>
            <a:pPr>
              <a:spcAft>
                <a:spcPts val="1300"/>
              </a:spcAft>
              <a:defRPr sz="1700">
                <a:solidFill>
                  <a:srgbClr val="263041"/>
                </a:solidFill>
              </a:defRPr>
            </a:pPr>
            <a:r>
              <a:t>•  Numeric: Age, PurchaseAmountUSD, PreviousPurchases.</a:t>
            </a:r>
          </a:p>
          <a:p>
            <a:pPr>
              <a:spcAft>
                <a:spcPts val="1300"/>
              </a:spcAft>
              <a:defRPr sz="1700">
                <a:solidFill>
                  <a:srgbClr val="263041"/>
                </a:solidFill>
              </a:defRPr>
            </a:pPr>
            <a:r>
              <a:t>•  Categorical: Category, SubscriptionStatus, DiscountApplied, PromoCodeUsed, FrequencyOfPurchases.</a:t>
            </a:r>
          </a:p>
          <a:p>
            <a:pPr>
              <a:spcAft>
                <a:spcPts val="1300"/>
              </a:spcAft>
              <a:defRPr sz="1700">
                <a:solidFill>
                  <a:srgbClr val="263041"/>
                </a:solidFill>
              </a:defRPr>
            </a:pPr>
            <a:r>
              <a:t>•  CustomerID excluded as an identifier.</a:t>
            </a:r>
          </a:p>
          <a:p>
            <a:pPr>
              <a:spcAft>
                <a:spcPts val="1300"/>
              </a:spcAft>
              <a:defRPr sz="1700">
                <a:solidFill>
                  <a:srgbClr val="263041"/>
                </a:solidFill>
              </a:defRPr>
            </a:pPr>
            <a:r>
              <a:t>•  Three clusters were generated for customer profiling.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42"/>
                </a:solidFill>
              </a:defRPr>
            </a:pPr>
            <a:r>
              <a:t>Three Customer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82"/>
                </a:solidFill>
              </a:defRPr>
            </a:pPr>
            <a:r>
              <a:t>Cluster profiles from the K-Prototypes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611880" cy="3291840"/>
          </a:xfrm>
          <a:prstGeom prst="roundRect">
            <a:avLst/>
          </a:prstGeom>
          <a:solidFill>
            <a:srgbClr val="F1F6FD"/>
          </a:solidFill>
          <a:ln>
            <a:solidFill>
              <a:srgbClr val="207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073DC"/>
                </a:solidFill>
              </a:defRPr>
            </a:pPr>
            <a:r>
              <a:t>CLUSTER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24328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2042"/>
                </a:solidFill>
              </a:defRPr>
            </a:pPr>
            <a:r>
              <a:t>1,488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82696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63041"/>
                </a:solidFill>
              </a:defRPr>
            </a:pPr>
            <a:r>
              <a:t>$111.27 average purchase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41064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47082"/>
                </a:solidFill>
              </a:defRPr>
            </a:pPr>
            <a:r>
              <a:t>Lower-spend group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611880" cy="3291840"/>
          </a:xfrm>
          <a:prstGeom prst="roundRect">
            <a:avLst/>
          </a:prstGeom>
          <a:solidFill>
            <a:srgbClr val="F1F6FD"/>
          </a:solidFill>
          <a:ln>
            <a:solidFill>
              <a:srgbClr val="674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74DBE"/>
                </a:solidFill>
              </a:defRPr>
            </a:pPr>
            <a:r>
              <a:t>CLUSTER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24328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2042"/>
                </a:solidFill>
              </a:defRPr>
            </a:pPr>
            <a:r>
              <a:t>1,220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82696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63041"/>
                </a:solidFill>
              </a:defRPr>
            </a:pPr>
            <a:r>
              <a:t>$337.86 average purchase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3941064"/>
            <a:ext cx="358170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082"/>
                </a:solidFill>
              </a:defRPr>
            </a:pPr>
            <a:r>
              <a:rPr dirty="0"/>
              <a:t>Higher spend; highest reported previous-purchase average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645920"/>
            <a:ext cx="3611880" cy="3291840"/>
          </a:xfrm>
          <a:prstGeom prst="roundRect">
            <a:avLst/>
          </a:prstGeom>
          <a:solidFill>
            <a:srgbClr val="F1F6FD"/>
          </a:solidFill>
          <a:ln>
            <a:solidFill>
              <a:srgbClr val="674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965960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74DBE"/>
                </a:solidFill>
              </a:defRPr>
            </a:pPr>
            <a:r>
              <a:t>CLUSTER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624328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2042"/>
                </a:solidFill>
              </a:defRPr>
            </a:pPr>
            <a:r>
              <a:t>1,192 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282696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63041"/>
                </a:solidFill>
              </a:defRPr>
            </a:pPr>
            <a:r>
              <a:t>$351.20 average purchase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941064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47082"/>
                </a:solidFill>
              </a:defRPr>
            </a:pPr>
            <a:r>
              <a:t>Highest average purchase in this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041"/>
                </a:solidFill>
              </a:defRPr>
            </a:pPr>
            <a:r>
              <a:t>•  Cluster sizes total 3,900 records. Cluster labels are identifiers, not rankings.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42"/>
                </a:solidFill>
              </a:defRPr>
            </a:pPr>
            <a:r>
              <a:t>Cluster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82"/>
                </a:solidFill>
              </a:defRPr>
            </a:pPr>
            <a:r>
              <a:rPr dirty="0"/>
              <a:t>Reported Gower silhouette score: 0.0676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95627"/>
            <a:ext cx="10698480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63041"/>
                </a:solidFill>
              </a:defRPr>
            </a:pPr>
            <a:r>
              <a:rPr dirty="0"/>
              <a:t>•  Calculated on a sample of 600 records.</a:t>
            </a:r>
          </a:p>
          <a:p>
            <a:pPr>
              <a:spcAft>
                <a:spcPts val="1300"/>
              </a:spcAft>
              <a:defRPr sz="1900">
                <a:solidFill>
                  <a:srgbClr val="263041"/>
                </a:solidFill>
              </a:defRPr>
            </a:pPr>
            <a:r>
              <a:rPr dirty="0"/>
              <a:t>•  The score indicates weak separation between clusters in the sampled mixed-type feature space.</a:t>
            </a:r>
          </a:p>
          <a:p>
            <a:pPr>
              <a:spcAft>
                <a:spcPts val="1300"/>
              </a:spcAft>
              <a:defRPr sz="1900">
                <a:solidFill>
                  <a:srgbClr val="263041"/>
                </a:solidFill>
              </a:defRPr>
            </a:pPr>
            <a:r>
              <a:rPr dirty="0"/>
              <a:t>•  Use these segments as exploratory profiles, not definitive customer types.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8FE8AC-8022-A543-7E2F-56290E704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2498548"/>
            <a:ext cx="7962900" cy="42520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A4B"/>
                </a:solidFill>
                <a:latin typeface="Aptos"/>
              </a:defRPr>
            </a:pPr>
            <a:r>
              <a:t>Why Are the Customer Clusters Weak?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057400" cy="1325880"/>
          </a:xfrm>
          <a:prstGeom prst="roundRect">
            <a:avLst/>
          </a:prstGeom>
          <a:solidFill>
            <a:srgbClr val="6F4EA0"/>
          </a:solidFill>
          <a:ln>
            <a:solidFill>
              <a:srgbClr val="6F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0.0676</a:t>
            </a:r>
          </a:p>
          <a:p>
            <a:pPr algn="ctr">
              <a:defRPr sz="1100">
                <a:solidFill>
                  <a:srgbClr val="FFFFFF"/>
                </a:solidFill>
                <a:latin typeface="Aptos"/>
              </a:defRPr>
            </a:pPr>
            <a:r>
              <a:t>Gower silhouette</a:t>
            </a:r>
            <a:br/>
            <a:r>
              <a:t>(sample of 600)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3346705"/>
            <a:ext cx="8549640" cy="804672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2A6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64008" rIns="146304" bIns="36576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A68B0"/>
                </a:solidFill>
                <a:latin typeface="Aptos"/>
              </a:defRPr>
            </a:pPr>
            <a:r>
              <a:rPr lang="en-IN" dirty="0"/>
              <a:t>3</a:t>
            </a:r>
            <a:r>
              <a:rPr dirty="0"/>
              <a:t>. Overlapping customers</a:t>
            </a:r>
          </a:p>
          <a:p>
            <a:pPr>
              <a:defRPr sz="1000">
                <a:solidFill>
                  <a:srgbClr val="2A3441"/>
                </a:solidFill>
                <a:latin typeface="Aptos"/>
              </a:defRPr>
            </a:pPr>
            <a:r>
              <a:rPr dirty="0"/>
              <a:t>A low silhouette score suggests customers are not clearly separated; some may fit more than one group.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2304288"/>
            <a:ext cx="8549640" cy="804672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1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64008" rIns="146304" bIns="36576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1E8B8B"/>
                </a:solidFill>
                <a:latin typeface="Aptos"/>
              </a:defRPr>
            </a:pPr>
            <a:r>
              <a:t>2. Similar category patterns</a:t>
            </a:r>
          </a:p>
          <a:p>
            <a:pPr>
              <a:defRPr sz="1000">
                <a:solidFill>
                  <a:srgbClr val="2A3441"/>
                </a:solidFill>
                <a:latin typeface="Aptos"/>
              </a:defRPr>
            </a:pPr>
            <a:r>
              <a:t>The clusters share similar dominant categories and subscription/discount patterns, so many features do not strongly distinguish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325880"/>
            <a:ext cx="8549640" cy="804672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DA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64008" rIns="146304" bIns="36576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DA852D"/>
                </a:solidFill>
                <a:latin typeface="Aptos"/>
              </a:defRPr>
            </a:pPr>
            <a:r>
              <a:rPr lang="en-IN" dirty="0"/>
              <a:t>1</a:t>
            </a:r>
            <a:r>
              <a:rPr dirty="0"/>
              <a:t>. Limited feature information</a:t>
            </a:r>
          </a:p>
          <a:p>
            <a:pPr>
              <a:defRPr sz="1000">
                <a:solidFill>
                  <a:srgbClr val="2A3441"/>
                </a:solidFill>
                <a:latin typeface="Aptos"/>
              </a:defRPr>
            </a:pPr>
            <a:r>
              <a:rPr dirty="0"/>
              <a:t>The dataset has a single snapshot per customer and no dates, profit/margin, or customer-lifetime-value measures.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4297680"/>
            <a:ext cx="8549640" cy="804672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162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64008" rIns="146304" bIns="36576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162A4B"/>
                </a:solidFill>
                <a:latin typeface="Aptos"/>
              </a:defRPr>
            </a:pPr>
            <a:r>
              <a:t>4. Spending drives much of the difference</a:t>
            </a:r>
          </a:p>
          <a:p>
            <a:pPr>
              <a:defRPr sz="1000">
                <a:solidFill>
                  <a:srgbClr val="2A3441"/>
                </a:solidFill>
                <a:latin typeface="Aptos"/>
              </a:defRPr>
            </a:pPr>
            <a:r>
              <a:t>Average purchase amount differs across groups, but that alone may not create well-separated customer profiles.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42"/>
                </a:solidFill>
              </a:defRPr>
            </a:pPr>
            <a:r>
              <a:t>Machine Learning: 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82"/>
                </a:solidFill>
              </a:defRPr>
            </a:pPr>
            <a:r>
              <a:t>Supervised prediction of generated cluster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1638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63041"/>
                </a:solidFill>
              </a:defRPr>
            </a:pPr>
            <a:r>
              <a:rPr dirty="0"/>
              <a:t>•  Target variable (y): </a:t>
            </a:r>
            <a:r>
              <a:rPr dirty="0" err="1"/>
              <a:t>Cluster_Scaled</a:t>
            </a:r>
            <a:r>
              <a:rPr dirty="0"/>
              <a:t>, generated by K-Prototypes.</a:t>
            </a:r>
          </a:p>
          <a:p>
            <a:pPr>
              <a:spcAft>
                <a:spcPts val="1300"/>
              </a:spcAft>
              <a:defRPr sz="1700">
                <a:solidFill>
                  <a:srgbClr val="263041"/>
                </a:solidFill>
              </a:defRPr>
            </a:pPr>
            <a:r>
              <a:rPr dirty="0"/>
              <a:t>•  Input features (X): the eight customer attributes used in the segmentation workflow.</a:t>
            </a:r>
          </a:p>
          <a:p>
            <a:pPr>
              <a:spcAft>
                <a:spcPts val="1300"/>
              </a:spcAft>
              <a:defRPr sz="1700">
                <a:solidFill>
                  <a:srgbClr val="263041"/>
                </a:solidFill>
              </a:defRPr>
            </a:pPr>
            <a:r>
              <a:rPr dirty="0"/>
              <a:t>•  Pipeline: </a:t>
            </a:r>
            <a:r>
              <a:rPr dirty="0" err="1"/>
              <a:t>StandardScaler</a:t>
            </a:r>
            <a:r>
              <a:rPr dirty="0"/>
              <a:t> + </a:t>
            </a:r>
            <a:r>
              <a:rPr dirty="0" err="1"/>
              <a:t>OneHotEncoder</a:t>
            </a:r>
            <a:r>
              <a:rPr dirty="0"/>
              <a:t> + Random Forest classifier.</a:t>
            </a:r>
          </a:p>
          <a:p>
            <a:pPr>
              <a:spcAft>
                <a:spcPts val="1300"/>
              </a:spcAft>
              <a:defRPr sz="1700">
                <a:solidFill>
                  <a:srgbClr val="263041"/>
                </a:solidFill>
              </a:defRPr>
            </a:pPr>
            <a:r>
              <a:rPr dirty="0"/>
              <a:t>•  Reported test accuracy: 95.26%; macro F1: 0.9531.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5BC422-34A3-9EC5-168B-073B390F2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80" y="3175102"/>
            <a:ext cx="5075320" cy="31350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2A4B"/>
                </a:solidFill>
                <a:latin typeface="Aptos"/>
              </a:defRPr>
            </a:pPr>
            <a:r>
              <a:t>Application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4707E"/>
                </a:solidFill>
                <a:latin typeface="Aptos"/>
              </a:defRPr>
            </a:pPr>
            <a:r>
              <a:t>How a customer input becomes a segment prediction and a plain-language explanation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2148840" cy="1051560"/>
          </a:xfrm>
          <a:prstGeom prst="roundRect">
            <a:avLst/>
          </a:prstGeom>
          <a:solidFill>
            <a:srgbClr val="1E8B8B"/>
          </a:solidFill>
          <a:ln>
            <a:solidFill>
              <a:srgbClr val="1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1. User Interface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User enters customer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00200"/>
            <a:ext cx="2148840" cy="1051560"/>
          </a:xfrm>
          <a:prstGeom prst="roundRect">
            <a:avLst/>
          </a:prstGeom>
          <a:solidFill>
            <a:srgbClr val="2A68B0"/>
          </a:solidFill>
          <a:ln>
            <a:solidFill>
              <a:srgbClr val="2A6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2. FastAPI Backend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Receives request and validates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600200"/>
            <a:ext cx="2148840" cy="1051560"/>
          </a:xfrm>
          <a:prstGeom prst="roundRect">
            <a:avLst/>
          </a:prstGeom>
          <a:solidFill>
            <a:srgbClr val="DA852D"/>
          </a:solidFill>
          <a:ln>
            <a:solidFill>
              <a:srgbClr val="DA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3. Random Forest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Predicts the assigned cluster label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600200"/>
            <a:ext cx="2468880" cy="1051560"/>
          </a:xfrm>
          <a:prstGeom prst="roundRect">
            <a:avLst/>
          </a:prstGeom>
          <a:solidFill>
            <a:srgbClr val="162A4B"/>
          </a:solidFill>
          <a:ln>
            <a:solidFill>
              <a:srgbClr val="162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4. Prediction Result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Returns the predicted customer group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121408"/>
            <a:ext cx="685800" cy="0"/>
          </a:xfrm>
          <a:prstGeom prst="line">
            <a:avLst/>
          </a:prstGeom>
          <a:ln w="25400">
            <a:solidFill>
              <a:srgbClr val="1E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77840" y="2121408"/>
            <a:ext cx="685800" cy="0"/>
          </a:xfrm>
          <a:prstGeom prst="line">
            <a:avLst/>
          </a:prstGeom>
          <a:ln w="25400">
            <a:solidFill>
              <a:srgbClr val="2A6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12480" y="2121408"/>
            <a:ext cx="685800" cy="0"/>
          </a:xfrm>
          <a:prstGeom prst="line">
            <a:avLst/>
          </a:prstGeom>
          <a:ln w="25400">
            <a:solidFill>
              <a:srgbClr val="DA85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0" y="3669030"/>
            <a:ext cx="2423160" cy="1097280"/>
          </a:xfrm>
          <a:prstGeom prst="roundRect">
            <a:avLst/>
          </a:prstGeom>
          <a:solidFill>
            <a:srgbClr val="6F4EA0"/>
          </a:solidFill>
          <a:ln>
            <a:solidFill>
              <a:srgbClr val="6F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5. Gemini Explanation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Turns prediction context into simple language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3710940"/>
            <a:ext cx="2423160" cy="1097280"/>
          </a:xfrm>
          <a:prstGeom prst="roundRect">
            <a:avLst/>
          </a:prstGeom>
          <a:solidFill>
            <a:srgbClr val="1E8B8B"/>
          </a:solidFill>
          <a:ln>
            <a:solidFill>
              <a:srgbClr val="1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6. UI Displays Output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Shows segment and explanation to user</a:t>
            </a:r>
          </a:p>
        </p:txBody>
      </p:sp>
      <p:cxnSp>
        <p:nvCxnSpPr>
          <p:cNvPr id="13" name="Connector 12"/>
          <p:cNvCxnSpPr>
            <a:cxnSpLocks/>
          </p:cNvCxnSpPr>
          <p:nvPr/>
        </p:nvCxnSpPr>
        <p:spPr>
          <a:xfrm>
            <a:off x="10538460" y="2651760"/>
            <a:ext cx="0" cy="996315"/>
          </a:xfrm>
          <a:prstGeom prst="line">
            <a:avLst/>
          </a:prstGeom>
          <a:ln w="25400">
            <a:solidFill>
              <a:srgbClr val="162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183880" y="4217670"/>
            <a:ext cx="960120" cy="0"/>
          </a:xfrm>
          <a:prstGeom prst="line">
            <a:avLst/>
          </a:prstGeom>
          <a:ln w="25400">
            <a:solidFill>
              <a:srgbClr val="6F4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FBB984-EAB0-4625-9C8E-04023B1A0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C3563A-0A05-B510-AD80-D57FF5FD5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95474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1300"/>
              </a:spcAft>
              <a:buNone/>
              <a:defRPr sz="2000">
                <a:solidFill>
                  <a:srgbClr val="263041"/>
                </a:solidFill>
              </a:defRPr>
            </a:pPr>
            <a:r>
              <a:rPr lang="en-US" dirty="0"/>
              <a:t>•  Power BI was used for exploratory analysis of purchasing patterns.</a:t>
            </a:r>
          </a:p>
          <a:p>
            <a:pPr marL="0" indent="0">
              <a:spcAft>
                <a:spcPts val="1300"/>
              </a:spcAft>
              <a:buNone/>
              <a:defRPr sz="2000">
                <a:solidFill>
                  <a:srgbClr val="263041"/>
                </a:solidFill>
              </a:defRPr>
            </a:pPr>
            <a:r>
              <a:rPr lang="en-US" dirty="0"/>
              <a:t>•  K-Prototypes was used to find three customer groups.</a:t>
            </a:r>
          </a:p>
          <a:p>
            <a:pPr marL="0" indent="0">
              <a:spcAft>
                <a:spcPts val="1300"/>
              </a:spcAft>
              <a:buNone/>
              <a:defRPr sz="2000">
                <a:solidFill>
                  <a:srgbClr val="263041"/>
                </a:solidFill>
              </a:defRPr>
            </a:pPr>
            <a:r>
              <a:rPr lang="en-US" dirty="0"/>
              <a:t>•  Random Forest predicts the cluster labels generated by K-Prototypes.</a:t>
            </a:r>
          </a:p>
          <a:p>
            <a:pPr marL="0" indent="0">
              <a:spcAft>
                <a:spcPts val="1300"/>
              </a:spcAft>
              <a:buNone/>
              <a:defRPr sz="2000">
                <a:solidFill>
                  <a:srgbClr val="263041"/>
                </a:solidFill>
              </a:defRPr>
            </a:pPr>
            <a:r>
              <a:rPr lang="en-US" dirty="0" err="1">
                <a:hlinkClick r:id="rId2"/>
              </a:rPr>
              <a:t>Github</a:t>
            </a:r>
            <a:r>
              <a:rPr lang="en-US" dirty="0">
                <a:hlinkClick r:id="rId2"/>
              </a:rPr>
              <a:t> 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069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B"/>
                </a:solidFill>
                <a:latin typeface="Aptos Display"/>
              </a:defRPr>
            </a:pPr>
            <a:r>
              <a:t>Application UI — Customer Input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09" y="1234440"/>
            <a:ext cx="10924476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600465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B"/>
                </a:solidFill>
                <a:latin typeface="Aptos Display"/>
              </a:defRPr>
            </a:pPr>
            <a:r>
              <a:rPr dirty="0"/>
              <a:t>Application UI  Prediction &amp; Explanation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47" y="1234440"/>
            <a:ext cx="10907199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AE7281-B462-ACDD-23CC-6079E81C7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37279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998</Words>
  <Application>Microsoft Office PowerPoint</Application>
  <PresentationFormat>Widescreen</PresentationFormat>
  <Paragraphs>144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MIR SADAB ALI</cp:lastModifiedBy>
  <cp:revision>3</cp:revision>
  <dcterms:created xsi:type="dcterms:W3CDTF">2013-01-27T09:14:16Z</dcterms:created>
  <dcterms:modified xsi:type="dcterms:W3CDTF">2026-10-18T13:24:25Z</dcterms:modified>
  <cp:category/>
</cp:coreProperties>
</file>